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10896"/>
            <a:ext cx="106344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THE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"/>
            <a:ext cx="106344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200" b="0">
                <a:solidFill>
                  <a:srgbClr val="1A1A1A"/>
                </a:solidFill>
                <a:latin typeface="New York"/>
              </a:rPr>
              <a:t>REM Medical strategy kernel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950976"/>
            <a:ext cx="10634472" cy="548640"/>
          </a:xfrm>
          <a:prstGeom prst="roundRect">
            <a:avLst>
              <a:gd name="adj" fmla="val 23333"/>
            </a:avLst>
          </a:prstGeom>
          <a:solidFill>
            <a:srgbClr val="E8EB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14300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spc="132">
                <a:solidFill>
                  <a:srgbClr val="1E2847"/>
                </a:solidFill>
                <a:latin typeface="Helvetica Neue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024128"/>
            <a:ext cx="8458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1E2847"/>
                </a:solidFill>
                <a:latin typeface="New York"/>
              </a:rPr>
              <a:t>Enable people to lead a happier, healthier life starting with a better night's sleep</a:t>
            </a:r>
          </a:p>
        </p:txBody>
      </p:sp>
      <p:sp>
        <p:nvSpPr>
          <p:cNvPr id="8" name="Isosceles Triangle 7"/>
          <p:cNvSpPr/>
          <p:nvPr/>
        </p:nvSpPr>
        <p:spPr>
          <a:xfrm rot="10800000">
            <a:off x="5961888" y="1572768"/>
            <a:ext cx="274320" cy="146304"/>
          </a:xfrm>
          <a:prstGeom prst="triangle">
            <a:avLst/>
          </a:prstGeom>
          <a:solidFill>
            <a:srgbClr val="8F89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792224"/>
            <a:ext cx="10634472" cy="1024128"/>
          </a:xfrm>
          <a:prstGeom prst="roundRect">
            <a:avLst>
              <a:gd name="adj" fmla="val 12500"/>
            </a:avLst>
          </a:prstGeom>
          <a:solidFill>
            <a:srgbClr val="EFE8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99339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spc="132">
                <a:solidFill>
                  <a:srgbClr val="555555"/>
                </a:solidFill>
                <a:latin typeface="Helvetica Neue"/>
              </a:rPr>
              <a:t>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865376"/>
            <a:ext cx="8458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New York"/>
              </a:rPr>
              <a:t>It is likely that Medicare reimbursement for sleep diagnostics will be significantly reduced.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1" y="2304288"/>
            <a:ext cx="10122408" cy="10058"/>
          </a:xfrm>
          <a:prstGeom prst="rect">
            <a:avLst/>
          </a:prstGeom>
          <a:solidFill>
            <a:srgbClr val="8F89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2505456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spc="132">
                <a:solidFill>
                  <a:srgbClr val="1E2847"/>
                </a:solidFill>
                <a:latin typeface="Helvetica Neue"/>
              </a:rPr>
              <a:t>GUIDING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377440"/>
            <a:ext cx="8458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1E2847"/>
                </a:solidFill>
                <a:latin typeface="New York"/>
              </a:rPr>
              <a:t>Leverage our strength in delivering outcomes by shifting from fee for service to getting paid for results.</a:t>
            </a:r>
          </a:p>
        </p:txBody>
      </p:sp>
      <p:sp>
        <p:nvSpPr>
          <p:cNvPr id="15" name="Isosceles Triangle 14"/>
          <p:cNvSpPr/>
          <p:nvPr/>
        </p:nvSpPr>
        <p:spPr>
          <a:xfrm rot="10800000">
            <a:off x="5961888" y="2889504"/>
            <a:ext cx="274320" cy="146304"/>
          </a:xfrm>
          <a:prstGeom prst="triangle">
            <a:avLst/>
          </a:prstGeom>
          <a:solidFill>
            <a:srgbClr val="8F89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3108960"/>
            <a:ext cx="3361944" cy="2980944"/>
          </a:xfrm>
          <a:prstGeom prst="roundRect">
            <a:avLst>
              <a:gd name="adj" fmla="val 4294"/>
            </a:avLst>
          </a:prstGeom>
          <a:solidFill>
            <a:srgbClr val="FCFA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5" y="3346704"/>
            <a:ext cx="29230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C2410C"/>
                </a:solidFill>
                <a:latin typeface="New York"/>
              </a:rPr>
              <a:t>1</a:t>
            </a:r>
            <a:r>
              <a:rPr sz="1600" b="0">
                <a:solidFill>
                  <a:srgbClr val="1A1A1A"/>
                </a:solidFill>
                <a:latin typeface="New York"/>
              </a:rPr>
              <a:t>   Fuel the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5" y="3675887"/>
            <a:ext cx="292303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Helvetica Neue"/>
              </a:rPr>
              <a:t>with existing fee-for-service business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5" y="3877056"/>
            <a:ext cx="292303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Helvetica Neue"/>
              </a:rPr>
              <a:t>Owner: Jeff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" y="4151376"/>
            <a:ext cx="2923032" cy="10058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5" y="4279392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spc="132">
                <a:solidFill>
                  <a:srgbClr val="555555"/>
                </a:solidFill>
                <a:latin typeface="Helvetica Neue"/>
              </a:rPr>
              <a:t>THIS YEAR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5" y="4498848"/>
            <a:ext cx="292303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2D2D2D"/>
                </a:solidFill>
                <a:latin typeface="Helvetica Neue"/>
              </a:rPr>
              <a:t>Engage 700 patients a month in Q4 in the Arizona region</a:t>
            </a:r>
            <a:r>
              <a:rPr sz="900" b="0">
                <a:solidFill>
                  <a:srgbClr val="555555"/>
                </a:solidFill>
                <a:latin typeface="Helvetica Neue"/>
              </a:rPr>
              <a:t>   JEFF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2D2D2D"/>
                </a:solidFill>
                <a:latin typeface="Helvetica Neue"/>
              </a:rPr>
              <a:t>Perform, and collect payment on, 250 home tests in Q4</a:t>
            </a:r>
            <a:r>
              <a:rPr sz="900" b="0">
                <a:solidFill>
                  <a:srgbClr val="555555"/>
                </a:solidFill>
                <a:latin typeface="Helvetica Neue"/>
              </a:rPr>
              <a:t>   ROBERT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3504" y="3108960"/>
            <a:ext cx="3361944" cy="2980944"/>
          </a:xfrm>
          <a:prstGeom prst="roundRect">
            <a:avLst>
              <a:gd name="adj" fmla="val 4294"/>
            </a:avLst>
          </a:prstGeom>
          <a:solidFill>
            <a:srgbClr val="FCFA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2960" y="3346704"/>
            <a:ext cx="29230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C2410C"/>
                </a:solidFill>
                <a:latin typeface="New York"/>
              </a:rPr>
              <a:t>2</a:t>
            </a:r>
            <a:r>
              <a:rPr sz="1600" b="0">
                <a:solidFill>
                  <a:srgbClr val="1A1A1A"/>
                </a:solidFill>
                <a:latin typeface="New York"/>
              </a:rPr>
              <a:t>   New delivery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2960" y="3675887"/>
            <a:ext cx="292303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Helvetica Neue"/>
              </a:rPr>
              <a:t>extend into new ways to deliver care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2960" y="3877056"/>
            <a:ext cx="292303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Helvetica Neue"/>
              </a:rPr>
              <a:t>Owner: Eric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32960" y="4151376"/>
            <a:ext cx="2923032" cy="10058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2960" y="4279392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spc="132">
                <a:solidFill>
                  <a:srgbClr val="555555"/>
                </a:solidFill>
                <a:latin typeface="Helvetica Neue"/>
              </a:rPr>
              <a:t>THIS YEAR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2960" y="4498848"/>
            <a:ext cx="292303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2D2D2D"/>
                </a:solidFill>
                <a:latin typeface="Helvetica Neue"/>
              </a:rPr>
              <a:t>Treat 2,000 patients through occupational health</a:t>
            </a:r>
            <a:r>
              <a:rPr sz="900" b="0">
                <a:solidFill>
                  <a:srgbClr val="555555"/>
                </a:solidFill>
                <a:latin typeface="Helvetica Neue"/>
              </a:rPr>
              <a:t>   JEN F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2D2D2D"/>
                </a:solidFill>
                <a:latin typeface="Helvetica Neue"/>
              </a:rPr>
              <a:t>$100,000 a month from ancillary DME products by end of Q3</a:t>
            </a:r>
            <a:r>
              <a:rPr sz="900" b="0">
                <a:solidFill>
                  <a:srgbClr val="555555"/>
                </a:solidFill>
                <a:latin typeface="Helvetica Neue"/>
              </a:rPr>
              <a:t>   MICHELLE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2D2D2D"/>
                </a:solidFill>
                <a:latin typeface="Helvetica Neue"/>
              </a:rPr>
              <a:t>First dollar from the research division by end of Q3</a:t>
            </a:r>
            <a:r>
              <a:rPr sz="900" b="0">
                <a:solidFill>
                  <a:srgbClr val="555555"/>
                </a:solidFill>
                <a:latin typeface="Helvetica Neue"/>
              </a:rPr>
              <a:t>   COLLEEN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3108960"/>
            <a:ext cx="3361944" cy="2980944"/>
          </a:xfrm>
          <a:prstGeom prst="roundRect">
            <a:avLst>
              <a:gd name="adj" fmla="val 4294"/>
            </a:avLst>
          </a:prstGeom>
          <a:solidFill>
            <a:srgbClr val="FCFA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69224" y="3346704"/>
            <a:ext cx="29230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C2410C"/>
                </a:solidFill>
                <a:latin typeface="New York"/>
              </a:rPr>
              <a:t>3</a:t>
            </a:r>
            <a:r>
              <a:rPr sz="1600" b="0">
                <a:solidFill>
                  <a:srgbClr val="1A1A1A"/>
                </a:solidFill>
                <a:latin typeface="New York"/>
              </a:rPr>
              <a:t>   Geographic reach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9224" y="3675887"/>
            <a:ext cx="292303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Helvetica Neue"/>
              </a:rPr>
              <a:t>extend into new regions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9224" y="3877056"/>
            <a:ext cx="292303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Helvetica Neue"/>
              </a:rPr>
              <a:t>Owner: Russell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69224" y="4151376"/>
            <a:ext cx="2923032" cy="10058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69224" y="4279392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spc="132">
                <a:solidFill>
                  <a:srgbClr val="555555"/>
                </a:solidFill>
                <a:latin typeface="Helvetica Neue"/>
              </a:rPr>
              <a:t>THIS YEAR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9224" y="4498848"/>
            <a:ext cx="292303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2D2D2D"/>
                </a:solidFill>
                <a:latin typeface="Helvetica Neue"/>
              </a:rPr>
              <a:t>See the first patient in the Pacific Northwest by Aug 31</a:t>
            </a:r>
            <a:r>
              <a:rPr sz="900" b="0">
                <a:solidFill>
                  <a:srgbClr val="555555"/>
                </a:solidFill>
                <a:latin typeface="Helvetica Neue"/>
              </a:rPr>
              <a:t>   KEN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2D2D2D"/>
                </a:solidFill>
                <a:latin typeface="Helvetica Neue"/>
              </a:rPr>
              <a:t>Break ground on 4 new sites in Q4</a:t>
            </a:r>
            <a:r>
              <a:rPr sz="900" b="0">
                <a:solidFill>
                  <a:srgbClr val="555555"/>
                </a:solidFill>
                <a:latin typeface="Helvetica Neue"/>
              </a:rPr>
              <a:t>   JEN B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2D2D2D"/>
                </a:solidFill>
                <a:latin typeface="Helvetica Neue"/>
              </a:rPr>
              <a:t>Sign 6 provider groups to co-build new facilities</a:t>
            </a:r>
            <a:r>
              <a:rPr sz="900" b="0">
                <a:solidFill>
                  <a:srgbClr val="555555"/>
                </a:solidFill>
                <a:latin typeface="Helvetica Neue"/>
              </a:rPr>
              <a:t>   RUSSELL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355080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32">
                <a:solidFill>
                  <a:srgbClr val="555555"/>
                </a:solidFill>
                <a:latin typeface="Helvetica Neue"/>
              </a:rPr>
              <a:t>REM MEDICAL STRATEGY KERNEL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355080"/>
            <a:ext cx="5486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Helvetica Neu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44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THE CHALLENGE AND THE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3447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0">
                <a:solidFill>
                  <a:srgbClr val="1A1A1A"/>
                </a:solidFill>
                <a:latin typeface="New York"/>
              </a:rPr>
              <a:t>What the kernel stands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0634472" cy="10058"/>
          </a:xfrm>
          <a:prstGeom prst="rect">
            <a:avLst/>
          </a:prstGeom>
          <a:solidFill>
            <a:srgbClr val="8F89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17904"/>
            <a:ext cx="5074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5074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1A1A1A"/>
                </a:solidFill>
                <a:latin typeface="New York"/>
              </a:rPr>
              <a:t>It is likely that Medicare reimbursement for sleep diagnostics will be significantly reduced.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5074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WHY IT IS THAT 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80944"/>
            <a:ext cx="5074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2D2D2D"/>
                </a:solidFill>
                <a:latin typeface="New York"/>
              </a:rPr>
              <a:t>Medicare has signaled cuts to in-lab polysomnography and is steering diagnosis toward home sleep testing at a fraction of the rate. Commercial payers follow Medicare within a year or two. Our revenue is built on the in-lab test.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80560"/>
            <a:ext cx="5074920" cy="1325880"/>
          </a:xfrm>
          <a:prstGeom prst="roundRect">
            <a:avLst>
              <a:gd name="adj" fmla="val 9655"/>
            </a:avLst>
          </a:prstGeom>
          <a:solidFill>
            <a:srgbClr val="EFE8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4700016"/>
            <a:ext cx="45628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HOW WE'D KNOW THIS IS WRONG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937760"/>
            <a:ext cx="456285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2D2D2D"/>
                </a:solidFill>
                <a:latin typeface="New York"/>
              </a:rPr>
              <a:t>The next Medicare fee schedule holds in-lab sleep study rates flat, and commercial payers don't move.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9903" y="1517904"/>
            <a:ext cx="10058" cy="4288536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517904"/>
            <a:ext cx="5074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1E2847"/>
                </a:solidFill>
                <a:latin typeface="Helvetica Neue"/>
              </a:rPr>
              <a:t>GUIDING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1755648"/>
            <a:ext cx="5074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1E2847"/>
                </a:solidFill>
                <a:latin typeface="New York"/>
              </a:rPr>
              <a:t>Leverage our strength in delivering outcomes by shifting from fee for service to getting paid for results.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743200"/>
            <a:ext cx="5074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WHY THIS POLICY 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980944"/>
            <a:ext cx="5074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0">
                <a:solidFill>
                  <a:srgbClr val="2D2D2D"/>
                </a:solidFill>
                <a:latin typeface="New York"/>
              </a:rPr>
              <a:t>Our outcomes data is the one asset a rate cut can't touch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0">
                <a:solidFill>
                  <a:srgbClr val="2D2D2D"/>
                </a:solidFill>
                <a:latin typeface="New York"/>
              </a:rPr>
              <a:t>Payers cutting the test will still pay for a treated, adherent patient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2D2D2D"/>
                </a:solidFill>
                <a:latin typeface="New York"/>
              </a:rPr>
              <a:t>Fee-for-service funds the transition for as long as it lasts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4480560"/>
            <a:ext cx="5074920" cy="1325880"/>
          </a:xfrm>
          <a:prstGeom prst="roundRect">
            <a:avLst>
              <a:gd name="adj" fmla="val 9655"/>
            </a:avLst>
          </a:prstGeom>
          <a:solidFill>
            <a:srgbClr val="EFE8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2824" y="4700016"/>
            <a:ext cx="45628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THE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2824" y="4937760"/>
            <a:ext cx="456285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2D2D2D"/>
                </a:solidFill>
                <a:latin typeface="New York"/>
              </a:rPr>
              <a:t>When something new arrives, ask one question: does it get us paid for results, or fund the engine that will? If neither, it goes on the kill list.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55080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32">
                <a:solidFill>
                  <a:srgbClr val="555555"/>
                </a:solidFill>
                <a:latin typeface="Helvetica Neue"/>
              </a:rPr>
              <a:t>REM MEDICAL STRATEGY KERNEL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355080"/>
            <a:ext cx="5486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44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KEY ACTION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3447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0">
                <a:solidFill>
                  <a:srgbClr val="C2410C"/>
                </a:solidFill>
                <a:latin typeface="New York"/>
              </a:rPr>
              <a:t>1</a:t>
            </a:r>
            <a:r>
              <a:rPr sz="2600" b="0">
                <a:solidFill>
                  <a:srgbClr val="1A1A1A"/>
                </a:solidFill>
                <a:latin typeface="New York"/>
              </a:rPr>
              <a:t>   Fuel the engine: with existing fee-for-service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25296"/>
            <a:ext cx="106344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Helvetica Neue"/>
              </a:rPr>
              <a:t>Owner: Jeff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34472" cy="10058"/>
          </a:xfrm>
          <a:prstGeom prst="rect">
            <a:avLst/>
          </a:prstGeom>
          <a:solidFill>
            <a:srgbClr val="8F89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5074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75104"/>
            <a:ext cx="50749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New York"/>
              </a:rPr>
              <a:t>The in-lab and home-testing business we already run pays for the shift. Keep it full and keep it collecting while reimbursement still holds.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5074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WHAT IT DEPENDS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46704"/>
            <a:ext cx="5074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0">
                <a:solidFill>
                  <a:srgbClr val="2D2D2D"/>
                </a:solidFill>
                <a:latin typeface="New York"/>
              </a:rPr>
              <a:t>Referral volume from the existing physician network holds through the year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2D2D2D"/>
                </a:solidFill>
                <a:latin typeface="New York"/>
              </a:rPr>
              <a:t>Home-test billing and collection run without a new hire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480560"/>
            <a:ext cx="5074920" cy="1188720"/>
          </a:xfrm>
          <a:prstGeom prst="roundRect">
            <a:avLst>
              <a:gd name="adj" fmla="val 10769"/>
            </a:avLst>
          </a:prstGeom>
          <a:solidFill>
            <a:srgbClr val="EFE8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4700016"/>
            <a:ext cx="45628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HOW WE'LL KNOW IT'S 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4937760"/>
            <a:ext cx="45628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2D2D2D"/>
                </a:solidFill>
                <a:latin typeface="New York"/>
              </a:rPr>
              <a:t>Monthly engaged patients and home-test collections, reviewed on the first of the month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3" y="1737360"/>
            <a:ext cx="10058" cy="4069080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737360"/>
            <a:ext cx="5074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THIS YEAR'S GOALS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01168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New York"/>
              </a:rPr>
              <a:t>Engage 700 patients a month in Q4 in the Arizona region</a:t>
            </a:r>
            <a:r>
              <a:rPr sz="1000" b="0">
                <a:solidFill>
                  <a:srgbClr val="555555"/>
                </a:solidFill>
                <a:latin typeface="Helvetica Neue"/>
              </a:rPr>
              <a:t>   JEFF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36792" y="2651760"/>
            <a:ext cx="5074920" cy="10058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798064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New York"/>
              </a:rPr>
              <a:t>Perform, and collect payment on, 250 home tests in Q4</a:t>
            </a:r>
            <a:r>
              <a:rPr sz="1000" b="0">
                <a:solidFill>
                  <a:srgbClr val="555555"/>
                </a:solidFill>
                <a:latin typeface="Helvetica Neue"/>
              </a:rPr>
              <a:t>   ROBERT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36792" y="3438144"/>
            <a:ext cx="5074920" cy="10058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355080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32">
                <a:solidFill>
                  <a:srgbClr val="555555"/>
                </a:solidFill>
                <a:latin typeface="Helvetica Neue"/>
              </a:rPr>
              <a:t>REM MEDICAL STRATEGY KERNEL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355080"/>
            <a:ext cx="5486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44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KEY ACTION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3447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0">
                <a:solidFill>
                  <a:srgbClr val="C2410C"/>
                </a:solidFill>
                <a:latin typeface="New York"/>
              </a:rPr>
              <a:t>2</a:t>
            </a:r>
            <a:r>
              <a:rPr sz="2600" b="0">
                <a:solidFill>
                  <a:srgbClr val="1A1A1A"/>
                </a:solidFill>
                <a:latin typeface="New York"/>
              </a:rPr>
              <a:t>   New delivery models: extend into new ways to deliver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25296"/>
            <a:ext cx="106344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Helvetica Neue"/>
              </a:rPr>
              <a:t>Owner: Eric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34472" cy="10058"/>
          </a:xfrm>
          <a:prstGeom prst="rect">
            <a:avLst/>
          </a:prstGeom>
          <a:solidFill>
            <a:srgbClr val="8F89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5074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75104"/>
            <a:ext cx="50749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New York"/>
              </a:rPr>
              <a:t>Find buyers who pay for a treated, sleeping patient rather than a test: employers through occupational health, patients through ancillary products, sponsors through research.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5074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WHAT IT DEPENDS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46704"/>
            <a:ext cx="5074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0">
                <a:solidFill>
                  <a:srgbClr val="2D2D2D"/>
                </a:solidFill>
                <a:latin typeface="New York"/>
              </a:rPr>
              <a:t>An occupational-health contract that pays per treated employee, not per test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2D2D2D"/>
                </a:solidFill>
                <a:latin typeface="New York"/>
              </a:rPr>
              <a:t>DME margin that survives payers following Medicare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480560"/>
            <a:ext cx="5074920" cy="1188720"/>
          </a:xfrm>
          <a:prstGeom prst="roundRect">
            <a:avLst>
              <a:gd name="adj" fmla="val 10769"/>
            </a:avLst>
          </a:prstGeom>
          <a:solidFill>
            <a:srgbClr val="EFE8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4700016"/>
            <a:ext cx="45628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HOW WE'LL KNOW IT'S 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4937760"/>
            <a:ext cx="45628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2D2D2D"/>
                </a:solidFill>
                <a:latin typeface="New York"/>
              </a:rPr>
              <a:t>Revenue by delivery model, with fee-for-service share falling quarter over quarter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3" y="1737360"/>
            <a:ext cx="10058" cy="4069080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737360"/>
            <a:ext cx="5074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THIS YEAR'S GOALS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01168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New York"/>
              </a:rPr>
              <a:t>Treat 2,000 patients through occupational health</a:t>
            </a:r>
            <a:r>
              <a:rPr sz="1000" b="0">
                <a:solidFill>
                  <a:srgbClr val="555555"/>
                </a:solidFill>
                <a:latin typeface="Helvetica Neue"/>
              </a:rPr>
              <a:t>   JEN 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36792" y="2651760"/>
            <a:ext cx="5074920" cy="10058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798064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New York"/>
              </a:rPr>
              <a:t>$100,000 a month from ancillary DME products by end of Q3</a:t>
            </a:r>
            <a:r>
              <a:rPr sz="1000" b="0">
                <a:solidFill>
                  <a:srgbClr val="555555"/>
                </a:solidFill>
                <a:latin typeface="Helvetica Neue"/>
              </a:rPr>
              <a:t>   MICHELLE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36792" y="3438144"/>
            <a:ext cx="5074920" cy="10058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584448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New York"/>
              </a:rPr>
              <a:t>First dollar from the research division by end of Q3</a:t>
            </a:r>
            <a:r>
              <a:rPr sz="1000" b="0">
                <a:solidFill>
                  <a:srgbClr val="555555"/>
                </a:solidFill>
                <a:latin typeface="Helvetica Neue"/>
              </a:rPr>
              <a:t>   COLLEEN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6792" y="4224528"/>
            <a:ext cx="5074920" cy="10058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355080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32">
                <a:solidFill>
                  <a:srgbClr val="555555"/>
                </a:solidFill>
                <a:latin typeface="Helvetica Neue"/>
              </a:rPr>
              <a:t>REM MEDICAL STRATEGY KERNEL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355080"/>
            <a:ext cx="5486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44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KEY ACTION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3447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0">
                <a:solidFill>
                  <a:srgbClr val="C2410C"/>
                </a:solidFill>
                <a:latin typeface="New York"/>
              </a:rPr>
              <a:t>3</a:t>
            </a:r>
            <a:r>
              <a:rPr sz="2600" b="0">
                <a:solidFill>
                  <a:srgbClr val="1A1A1A"/>
                </a:solidFill>
                <a:latin typeface="New York"/>
              </a:rPr>
              <a:t>   Geographic reach: extend into new regions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25296"/>
            <a:ext cx="106344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Helvetica Neue"/>
              </a:rPr>
              <a:t>Owner: Russell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34472" cy="10058"/>
          </a:xfrm>
          <a:prstGeom prst="rect">
            <a:avLst/>
          </a:prstGeom>
          <a:solidFill>
            <a:srgbClr val="8F89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5074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75104"/>
            <a:ext cx="50749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New York"/>
              </a:rPr>
              <a:t>Take the model to regions where sleep care is thin, built with provider groups who bring the patients, so new sites open with referrals already attached.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5074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WHAT IT DEPENDS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46704"/>
            <a:ext cx="5074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0">
                <a:solidFill>
                  <a:srgbClr val="2D2D2D"/>
                </a:solidFill>
                <a:latin typeface="New York"/>
              </a:rPr>
              <a:t>Provider groups willing to co-invest rather than refer at arm's length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2D2D2D"/>
                </a:solidFill>
                <a:latin typeface="New York"/>
              </a:rPr>
              <a:t>Site economics that work at reduced in-lab rates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480560"/>
            <a:ext cx="5074920" cy="1188720"/>
          </a:xfrm>
          <a:prstGeom prst="roundRect">
            <a:avLst>
              <a:gd name="adj" fmla="val 10769"/>
            </a:avLst>
          </a:prstGeom>
          <a:solidFill>
            <a:srgbClr val="EFE8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4700016"/>
            <a:ext cx="45628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HOW WE'LL KNOW IT'S 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4937760"/>
            <a:ext cx="45628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2D2D2D"/>
                </a:solidFill>
                <a:latin typeface="New York"/>
              </a:rPr>
              <a:t>Signed co-build contracts and days from signature to first patient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3" y="1737360"/>
            <a:ext cx="10058" cy="4069080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737360"/>
            <a:ext cx="5074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THIS YEAR'S GOALS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01168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New York"/>
              </a:rPr>
              <a:t>See the first patient in the Pacific Northwest by Aug 31</a:t>
            </a:r>
            <a:r>
              <a:rPr sz="1000" b="0">
                <a:solidFill>
                  <a:srgbClr val="555555"/>
                </a:solidFill>
                <a:latin typeface="Helvetica Neue"/>
              </a:rPr>
              <a:t>   KEN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36792" y="2651760"/>
            <a:ext cx="5074920" cy="10058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798064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New York"/>
              </a:rPr>
              <a:t>Break ground on 4 new sites in Q4</a:t>
            </a:r>
            <a:r>
              <a:rPr sz="1000" b="0">
                <a:solidFill>
                  <a:srgbClr val="555555"/>
                </a:solidFill>
                <a:latin typeface="Helvetica Neue"/>
              </a:rPr>
              <a:t>   JEN 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36792" y="3438144"/>
            <a:ext cx="5074920" cy="10058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584448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New York"/>
              </a:rPr>
              <a:t>Sign 6 provider groups to co-build new facilities</a:t>
            </a:r>
            <a:r>
              <a:rPr sz="1000" b="0">
                <a:solidFill>
                  <a:srgbClr val="555555"/>
                </a:solidFill>
                <a:latin typeface="Helvetica Neue"/>
              </a:rPr>
              <a:t>   RUSSELL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6792" y="4224528"/>
            <a:ext cx="5074920" cy="10058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355080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32">
                <a:solidFill>
                  <a:srgbClr val="555555"/>
                </a:solidFill>
                <a:latin typeface="Helvetica Neue"/>
              </a:rPr>
              <a:t>REM MEDICAL STRATEGY KERNEL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355080"/>
            <a:ext cx="5486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44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THE KILL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3447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0">
                <a:solidFill>
                  <a:srgbClr val="1A1A1A"/>
                </a:solidFill>
                <a:latin typeface="New York"/>
              </a:rPr>
              <a:t>Not now, and what would bring each one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2D2D2D"/>
                </a:solidFill>
                <a:latin typeface="New York"/>
              </a:rPr>
              <a:t>A refusal without a re-entry condition gets reopened in a hallway six months later. Each line here closes a door and puts a condition on the handle.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NOT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210312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COMES BACK WHEN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59152"/>
            <a:ext cx="10634472" cy="10058"/>
          </a:xfrm>
          <a:prstGeom prst="rect">
            <a:avLst/>
          </a:prstGeom>
          <a:solidFill>
            <a:srgbClr val="8F89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4203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8F8981"/>
                </a:solidFill>
                <a:latin typeface="New York"/>
              </a:rPr>
              <a:t>×  </a:t>
            </a:r>
            <a:r>
              <a:rPr sz="1600" b="0">
                <a:solidFill>
                  <a:srgbClr val="1A1A1A"/>
                </a:solidFill>
                <a:latin typeface="New York"/>
              </a:rPr>
              <a:t>In-lab beds in existing markets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560320"/>
            <a:ext cx="55595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2D2D2D"/>
                </a:solidFill>
                <a:latin typeface="New York"/>
              </a:rPr>
              <a:t>In-lab utilization above 85% for two straight quarters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145535"/>
            <a:ext cx="10634472" cy="10058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64991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8F8981"/>
                </a:solidFill>
                <a:latin typeface="New York"/>
              </a:rPr>
              <a:t>×  </a:t>
            </a:r>
            <a:r>
              <a:rPr sz="1600" b="0">
                <a:solidFill>
                  <a:srgbClr val="1A1A1A"/>
                </a:solidFill>
                <a:latin typeface="New York"/>
              </a:rPr>
              <a:t>Price cuts to win referrals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383279"/>
            <a:ext cx="55595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2D2D2D"/>
                </a:solidFill>
                <a:latin typeface="New York"/>
              </a:rPr>
              <a:t>A referral source names price as the reason they left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968496"/>
            <a:ext cx="10634472" cy="10058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8795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8F8981"/>
                </a:solidFill>
                <a:latin typeface="New York"/>
              </a:rPr>
              <a:t>×  </a:t>
            </a:r>
            <a:r>
              <a:rPr sz="1600" b="0">
                <a:solidFill>
                  <a:srgbClr val="1A1A1A"/>
                </a:solidFill>
                <a:latin typeface="New York"/>
              </a:rPr>
              <a:t>Consumer sleep 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206240"/>
            <a:ext cx="55595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2D2D2D"/>
                </a:solidFill>
                <a:latin typeface="New York"/>
              </a:rPr>
              <a:t>Two occupational-health clients ask for them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791456"/>
            <a:ext cx="10634472" cy="10058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8F8981"/>
                </a:solidFill>
                <a:latin typeface="New York"/>
              </a:rPr>
              <a:t>×  </a:t>
            </a:r>
            <a:r>
              <a:rPr sz="1600" b="0">
                <a:solidFill>
                  <a:srgbClr val="1A1A1A"/>
                </a:solidFill>
                <a:latin typeface="New York"/>
              </a:rPr>
              <a:t>Acquiring other sleep labs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5029200"/>
            <a:ext cx="55595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2D2D2D"/>
                </a:solidFill>
                <a:latin typeface="New York"/>
              </a:rPr>
              <a:t>A results-based payer contract is signed and needs capacity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614416"/>
            <a:ext cx="10634472" cy="10058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355080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32">
                <a:solidFill>
                  <a:srgbClr val="555555"/>
                </a:solidFill>
                <a:latin typeface="Helvetica Neue"/>
              </a:rPr>
              <a:t>REM MEDICAL STRATEGY KERNEL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355080"/>
            <a:ext cx="5486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44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WHAT WE'RE STANDING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3447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0">
                <a:solidFill>
                  <a:srgbClr val="1A1A1A"/>
                </a:solidFill>
                <a:latin typeface="New York"/>
              </a:rPr>
              <a:t>Key assumptions and key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98448"/>
            <a:ext cx="10634472" cy="10058"/>
          </a:xfrm>
          <a:prstGeom prst="rect">
            <a:avLst/>
          </a:prstGeom>
          <a:solidFill>
            <a:srgbClr val="8F89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17904"/>
            <a:ext cx="5074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KEY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074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New York"/>
              </a:rPr>
              <a:t>Payers will pay for outcomes, not only for tests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55555"/>
                </a:solidFill>
                <a:latin typeface="Helvetica Neue"/>
              </a:rPr>
              <a:t>BROKE WHEN   </a:t>
            </a:r>
            <a:r>
              <a:rPr sz="1300" b="0">
                <a:solidFill>
                  <a:srgbClr val="2D2D2D"/>
                </a:solidFill>
                <a:latin typeface="New York"/>
              </a:rPr>
              <a:t>Two payer conversations end with “we only pay per study”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871215"/>
            <a:ext cx="5074920" cy="10058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5074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New York"/>
              </a:rPr>
              <a:t>Home testing can be profitable at reduced rates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55555"/>
                </a:solidFill>
                <a:latin typeface="Helvetica Neue"/>
              </a:rPr>
              <a:t>BROKE WHEN   </a:t>
            </a:r>
            <a:r>
              <a:rPr sz="1300" b="0">
                <a:solidFill>
                  <a:srgbClr val="2D2D2D"/>
                </a:solidFill>
                <a:latin typeface="New York"/>
              </a:rPr>
              <a:t>Home-test margin is negative after the Q4 volume push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151376"/>
            <a:ext cx="5074920" cy="10058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89120"/>
            <a:ext cx="5074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New York"/>
              </a:rPr>
              <a:t>Occupational-health buyers want treated employees, not diagnoses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55555"/>
                </a:solidFill>
                <a:latin typeface="Helvetica Neue"/>
              </a:rPr>
              <a:t>BROKE WHEN   </a:t>
            </a:r>
            <a:r>
              <a:rPr sz="1300" b="0">
                <a:solidFill>
                  <a:srgbClr val="2D2D2D"/>
                </a:solidFill>
                <a:latin typeface="New York"/>
              </a:rPr>
              <a:t>Pilots renew as diagnostic-only contracts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431536"/>
            <a:ext cx="5074920" cy="10058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9903" y="1517904"/>
            <a:ext cx="10058" cy="4288536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517904"/>
            <a:ext cx="5074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spc="132">
                <a:solidFill>
                  <a:srgbClr val="555555"/>
                </a:solidFill>
                <a:latin typeface="Helvetica Neue"/>
              </a:rPr>
              <a:t>KEY QUESTIONS, EACH WITH AN 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1828800"/>
            <a:ext cx="5074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New York"/>
              </a:rPr>
              <a:t>What does a results-based contract look like to a regional payer?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55555"/>
                </a:solidFill>
                <a:latin typeface="Helvetica Neue"/>
              </a:rPr>
              <a:t>ERIC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6792" y="2871215"/>
            <a:ext cx="5074920" cy="10058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3108960"/>
            <a:ext cx="5074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New York"/>
              </a:rPr>
              <a:t>Which Pacific Northwest sites have the referral density to support a lab?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55555"/>
                </a:solidFill>
                <a:latin typeface="Helvetica Neue"/>
              </a:rPr>
              <a:t>RUSSELL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36792" y="4151376"/>
            <a:ext cx="5074920" cy="10058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4389120"/>
            <a:ext cx="5074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New York"/>
              </a:rPr>
              <a:t>What DME margin holds once commercial payers follow Medicare?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55555"/>
                </a:solidFill>
                <a:latin typeface="Helvetica Neue"/>
              </a:rPr>
              <a:t>MICHELLE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36792" y="5431536"/>
            <a:ext cx="5074920" cy="10058"/>
          </a:xfrm>
          <a:prstGeom prst="rect">
            <a:avLst/>
          </a:prstGeom>
          <a:solidFill>
            <a:srgbClr val="DFD6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355080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32">
                <a:solidFill>
                  <a:srgbClr val="555555"/>
                </a:solidFill>
                <a:latin typeface="Helvetica Neue"/>
              </a:rPr>
              <a:t>REM MEDICAL STRATEGY KERNEL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355080"/>
            <a:ext cx="5486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