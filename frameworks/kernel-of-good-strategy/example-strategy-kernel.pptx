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THE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106344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New York"/>
              </a:rPr>
              <a:t>REM Medical strategy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950976"/>
            <a:ext cx="10634472" cy="644423"/>
          </a:xfrm>
          <a:prstGeom prst="roundRect">
            <a:avLst>
              <a:gd name="adj" fmla="val 19865"/>
            </a:avLst>
          </a:prstGeom>
          <a:solidFill>
            <a:srgbClr val="E8EB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14300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spc="132">
                <a:solidFill>
                  <a:srgbClr val="1E2847"/>
                </a:solidFill>
                <a:latin typeface="Helvetica Neue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024128"/>
            <a:ext cx="8458200" cy="498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E2847"/>
                </a:solidFill>
                <a:latin typeface="New York"/>
              </a:rPr>
              <a:t>Enable people to lead a happier, healthier life starting with a better night's sleep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5961888" y="1668551"/>
            <a:ext cx="274320" cy="146304"/>
          </a:xfrm>
          <a:prstGeom prst="triangle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88007"/>
            <a:ext cx="10634472" cy="1221638"/>
          </a:xfrm>
          <a:prstGeom prst="roundRect">
            <a:avLst>
              <a:gd name="adj" fmla="val 10479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20265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spc="132">
                <a:solidFill>
                  <a:srgbClr val="555555"/>
                </a:solidFill>
                <a:latin typeface="Helvetica Neue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961159"/>
            <a:ext cx="8458200" cy="464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New York"/>
              </a:rPr>
              <a:t>It is likely that Medicare reimbursement for sleep diagnostics will be significantly reduced.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1" y="2498826"/>
            <a:ext cx="10122408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2731084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spc="132">
                <a:solidFill>
                  <a:srgbClr val="1E2847"/>
                </a:solidFill>
                <a:latin typeface="Helvetica Neue"/>
              </a:rPr>
              <a:t>GUIDING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571978"/>
            <a:ext cx="8458200" cy="464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E2847"/>
                </a:solidFill>
                <a:latin typeface="New York"/>
              </a:rPr>
              <a:t>Leverage our strength in delivering outcomes by shifting from fee for service to getting paid for results.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5961888" y="3182797"/>
            <a:ext cx="274320" cy="146304"/>
          </a:xfrm>
          <a:prstGeom prst="triangle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3402253"/>
            <a:ext cx="3361944" cy="2687650"/>
          </a:xfrm>
          <a:prstGeom prst="roundRect">
            <a:avLst>
              <a:gd name="adj" fmla="val 4763"/>
            </a:avLst>
          </a:prstGeom>
          <a:solidFill>
            <a:srgbClr val="FCFA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3639997"/>
            <a:ext cx="2923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C2410C"/>
                </a:solidFill>
                <a:latin typeface="New York"/>
              </a:rPr>
              <a:t>1</a:t>
            </a:r>
            <a:r>
              <a:rPr sz="1600" b="0">
                <a:solidFill>
                  <a:srgbClr val="1A1A1A"/>
                </a:solidFill>
                <a:latin typeface="New York"/>
              </a:rPr>
              <a:t>   Fuel the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987469"/>
            <a:ext cx="2923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Helvetica Neue"/>
              </a:rPr>
              <a:t>Owner: Jeff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5" y="4261789"/>
            <a:ext cx="292303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389805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spc="132">
                <a:solidFill>
                  <a:srgbClr val="555555"/>
                </a:solidFill>
                <a:latin typeface="Helvetica Neue"/>
              </a:rPr>
              <a:t>THIS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5" y="4609261"/>
            <a:ext cx="2923032" cy="8875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0">
                <a:solidFill>
                  <a:srgbClr val="2D2D2D"/>
                </a:solidFill>
                <a:latin typeface="Helvetica Neue"/>
              </a:rPr>
              <a:t>Engage 700 patients a month in Q4 in the Arizona region</a:t>
            </a:r>
            <a:r>
              <a:rPr sz="900" b="0">
                <a:solidFill>
                  <a:srgbClr val="555555"/>
                </a:solidFill>
                <a:latin typeface="Helvetica Neue"/>
              </a:rPr>
              <a:t>   JEFF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2D2D2D"/>
                </a:solidFill>
                <a:latin typeface="Helvetica Neue"/>
              </a:rPr>
              <a:t>Perform, and collect payment on, 250 home tests in Q4</a:t>
            </a:r>
            <a:r>
              <a:rPr sz="900" b="0">
                <a:solidFill>
                  <a:srgbClr val="555555"/>
                </a:solidFill>
                <a:latin typeface="Helvetica Neue"/>
              </a:rPr>
              <a:t>   ROBERT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3504" y="3402253"/>
            <a:ext cx="3361944" cy="2687650"/>
          </a:xfrm>
          <a:prstGeom prst="roundRect">
            <a:avLst>
              <a:gd name="adj" fmla="val 4763"/>
            </a:avLst>
          </a:prstGeom>
          <a:solidFill>
            <a:srgbClr val="FCFA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960" y="3639997"/>
            <a:ext cx="2923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C2410C"/>
                </a:solidFill>
                <a:latin typeface="New York"/>
              </a:rPr>
              <a:t>2</a:t>
            </a:r>
            <a:r>
              <a:rPr sz="1600" b="0">
                <a:solidFill>
                  <a:srgbClr val="1A1A1A"/>
                </a:solidFill>
                <a:latin typeface="New York"/>
              </a:rPr>
              <a:t>   New delivery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3987469"/>
            <a:ext cx="2923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Helvetica Neue"/>
              </a:rPr>
              <a:t>Owner: Eric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2960" y="4261789"/>
            <a:ext cx="292303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2960" y="4389805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spc="132">
                <a:solidFill>
                  <a:srgbClr val="555555"/>
                </a:solidFill>
                <a:latin typeface="Helvetica Neue"/>
              </a:rPr>
              <a:t>THIS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960" y="4609261"/>
            <a:ext cx="2923032" cy="1311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Treat 2,000 patients through occupational health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JEN F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$100,000 a month from ancillary DME products by end of Q3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MICHELLE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First dollar from the research division by end of Q3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COLLEEN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9768" y="3402253"/>
            <a:ext cx="3361944" cy="2687650"/>
          </a:xfrm>
          <a:prstGeom prst="roundRect">
            <a:avLst>
              <a:gd name="adj" fmla="val 4763"/>
            </a:avLst>
          </a:prstGeom>
          <a:solidFill>
            <a:srgbClr val="FCFA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9224" y="3639997"/>
            <a:ext cx="29230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C2410C"/>
                </a:solidFill>
                <a:latin typeface="New York"/>
              </a:rPr>
              <a:t>3</a:t>
            </a:r>
            <a:r>
              <a:rPr sz="1600" b="0">
                <a:solidFill>
                  <a:srgbClr val="1A1A1A"/>
                </a:solidFill>
                <a:latin typeface="New York"/>
              </a:rPr>
              <a:t>   Geographic reach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9224" y="3987469"/>
            <a:ext cx="292303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Helvetica Neue"/>
              </a:rPr>
              <a:t>Owner: Russell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9224" y="4261789"/>
            <a:ext cx="292303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9224" y="4389805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spc="132">
                <a:solidFill>
                  <a:srgbClr val="555555"/>
                </a:solidFill>
                <a:latin typeface="Helvetica Neue"/>
              </a:rPr>
              <a:t>THIS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9224" y="4609261"/>
            <a:ext cx="2923032" cy="1311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See the first patient in the Pacific Northwest by Aug 31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KEN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Break ground on 4 new sites in Q4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JEN 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2D2D2D"/>
                </a:solidFill>
                <a:latin typeface="Helvetica Neue"/>
              </a:rPr>
              <a:t>Sign 6 provider groups to co-build new facilities</a:t>
            </a:r>
            <a:r>
              <a:rPr sz="850" b="0">
                <a:solidFill>
                  <a:srgbClr val="555555"/>
                </a:solidFill>
                <a:latin typeface="Helvetica Neue"/>
              </a:rPr>
              <a:t>   RUSSELL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THE CHALLENGE AND THE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ew York"/>
              </a:rPr>
              <a:t>What the kernel stands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1790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5074920" cy="9002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96" b="0">
                <a:solidFill>
                  <a:srgbClr val="1A1A1A"/>
                </a:solidFill>
                <a:latin typeface="New York"/>
              </a:rPr>
              <a:t>It is likely that Medicare reimbursement for sleep diagnostics will be significantly reduced.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57093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WHY IT IS THAT 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94837"/>
            <a:ext cx="5074920" cy="11915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88" b="0">
                <a:solidFill>
                  <a:srgbClr val="2D2D2D"/>
                </a:solidFill>
                <a:latin typeface="New York"/>
              </a:rPr>
              <a:t>Medicare has signaled cuts to in-lab polysomnography and is steering diagnosis toward home sleep testing at a fraction of the rate. Commercial payers follow Medicare within a year or two. Our revenue is built on the in-lab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43458"/>
            <a:ext cx="5074920" cy="1391581"/>
          </a:xfrm>
          <a:prstGeom prst="roundRect">
            <a:avLst>
              <a:gd name="adj" fmla="val 9199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4862914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HOW WE'D KNOW THIS IS WRONG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5100658"/>
            <a:ext cx="4562856" cy="824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88" b="0">
                <a:solidFill>
                  <a:srgbClr val="2D2D2D"/>
                </a:solidFill>
                <a:latin typeface="New York"/>
              </a:rPr>
              <a:t>The next Medicare fee schedule holds in-lab sleep study rates flat, and commercial payers don't move.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3" y="1517904"/>
            <a:ext cx="10058" cy="4517136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51790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1E2847"/>
                </a:solidFill>
                <a:latin typeface="Helvetica Neue"/>
              </a:rPr>
              <a:t>GUIDING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55648"/>
            <a:ext cx="5074920" cy="77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92" b="0">
                <a:solidFill>
                  <a:srgbClr val="1E2847"/>
                </a:solidFill>
                <a:latin typeface="New York"/>
              </a:rPr>
              <a:t>Leverage our strength in delivering outcomes by shifting from fee for service to getting paid for results.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734328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WHY THIS POLICY 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972072"/>
            <a:ext cx="5074920" cy="9705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26" b="0">
                <a:solidFill>
                  <a:srgbClr val="2D2D2D"/>
                </a:solidFill>
                <a:latin typeface="New York"/>
              </a:rPr>
              <a:t>Our outcomes data is the one asset a rate cut can't touch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26" b="0">
                <a:solidFill>
                  <a:srgbClr val="2D2D2D"/>
                </a:solidFill>
                <a:latin typeface="New York"/>
              </a:rPr>
              <a:t>Payers cutting the test will still pay for a treated, adherent patient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6" b="0">
                <a:solidFill>
                  <a:srgbClr val="2D2D2D"/>
                </a:solidFill>
                <a:latin typeface="New York"/>
              </a:rPr>
              <a:t>Fee-for-service funds the transition for as long as it lasts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740947"/>
            <a:ext cx="5074920" cy="1294092"/>
          </a:xfrm>
          <a:prstGeom prst="roundRect">
            <a:avLst>
              <a:gd name="adj" fmla="val 9892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2824" y="4960403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4" y="5198147"/>
            <a:ext cx="4562856" cy="7271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26" b="0">
                <a:solidFill>
                  <a:srgbClr val="2D2D2D"/>
                </a:solidFill>
                <a:latin typeface="New York"/>
              </a:rPr>
              <a:t>When something new arrives, ask one question: does it get us paid for results, or fund the engine that will? If neither, it goes on the kill list.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KEY ACTION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C2410C"/>
                </a:solidFill>
                <a:latin typeface="New York"/>
              </a:rPr>
              <a:t>1</a:t>
            </a:r>
            <a:r>
              <a:rPr sz="2600" b="0">
                <a:solidFill>
                  <a:srgbClr val="1A1A1A"/>
                </a:solidFill>
                <a:latin typeface="New York"/>
              </a:rPr>
              <a:t>   Fuel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25296"/>
            <a:ext cx="106344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  <a:latin typeface="Helvetica Neue"/>
              </a:rPr>
              <a:t>Owner: Jeff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75104"/>
            <a:ext cx="5074920" cy="1131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10" b="0">
                <a:solidFill>
                  <a:srgbClr val="1A1A1A"/>
                </a:solidFill>
                <a:latin typeface="New York"/>
              </a:rPr>
              <a:t>The existing fee-for-service business, in-lab and home testing, pays for the shift. Keep it full and keep it collecting while reimbursement still 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07636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DEPENDS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45380"/>
            <a:ext cx="5074920" cy="1069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Referral volume from the existing physician network holds through the year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Home-test billing and collection run without a new hire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9270"/>
            <a:ext cx="5074920" cy="1185769"/>
          </a:xfrm>
          <a:prstGeom prst="roundRect">
            <a:avLst>
              <a:gd name="adj" fmla="val 10796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068726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HOW WE'LL KNOW IT'S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5306470"/>
            <a:ext cx="4562856" cy="618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Monthly engaged patients and home-test collections, reviewed on the first of the month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3" y="1737360"/>
            <a:ext cx="10058" cy="4297679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THIS YEAR'S GOALS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79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Engage 700 patients a month in Q4 in the Arizona region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JEFF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270090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865500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Perform, and collect payment on, 250 home tests in Q4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ROBERT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355472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KEY ACTION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C2410C"/>
                </a:solidFill>
                <a:latin typeface="New York"/>
              </a:rPr>
              <a:t>2</a:t>
            </a:r>
            <a:r>
              <a:rPr sz="2600" b="0">
                <a:solidFill>
                  <a:srgbClr val="1A1A1A"/>
                </a:solidFill>
                <a:latin typeface="New York"/>
              </a:rPr>
              <a:t>   New delivery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25296"/>
            <a:ext cx="106344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  <a:latin typeface="Helvetica Neue"/>
              </a:rPr>
              <a:t>Owner: Eric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75104"/>
            <a:ext cx="5074920" cy="132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20" b="0">
                <a:solidFill>
                  <a:srgbClr val="1A1A1A"/>
                </a:solidFill>
                <a:latin typeface="New York"/>
              </a:rPr>
              <a:t>Extend into new ways to deliver care. Find buyers who pay for a treated, sleeping patient rather than a test: employers through occupational health, patients through ancillary products, sponsors through research.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00208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DEPENDS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7952"/>
            <a:ext cx="5074920" cy="7773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88" b="0">
                <a:solidFill>
                  <a:srgbClr val="2D2D2D"/>
                </a:solidFill>
                <a:latin typeface="New York"/>
              </a:rPr>
              <a:t>An occupational-health contract that pays per treated employee, not per test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88" b="0">
                <a:solidFill>
                  <a:srgbClr val="2D2D2D"/>
                </a:solidFill>
                <a:latin typeface="New York"/>
              </a:rPr>
              <a:t>DME margin that survives payers following Medicare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81766"/>
            <a:ext cx="5074920" cy="1153273"/>
          </a:xfrm>
          <a:prstGeom prst="roundRect">
            <a:avLst>
              <a:gd name="adj" fmla="val 11100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101222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HOW WE'LL KNOW IT'S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5338966"/>
            <a:ext cx="4562856" cy="586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88" b="0">
                <a:solidFill>
                  <a:srgbClr val="2D2D2D"/>
                </a:solidFill>
                <a:latin typeface="New York"/>
              </a:rPr>
              <a:t>Revenue by delivery model, with fee-for-service share falling quarter over quarter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3" y="1737360"/>
            <a:ext cx="10058" cy="4297679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THIS YEAR'S GOALS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79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Treat 2,000 patients through occupational health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JEN 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270090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865500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$100,000 a month from ancillary DME products by end of Q3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MICHELLE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355472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719321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First dollar from the research division by end of Q3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COLLEEN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4408550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KEY ACTION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C2410C"/>
                </a:solidFill>
                <a:latin typeface="New York"/>
              </a:rPr>
              <a:t>3</a:t>
            </a:r>
            <a:r>
              <a:rPr sz="2600" b="0">
                <a:solidFill>
                  <a:srgbClr val="1A1A1A"/>
                </a:solidFill>
                <a:latin typeface="New York"/>
              </a:rPr>
              <a:t>   Geographic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25296"/>
            <a:ext cx="106344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  <a:latin typeface="Helvetica Neue"/>
              </a:rPr>
              <a:t>Owner: Russell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75104"/>
            <a:ext cx="5074920" cy="1131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10" b="0">
                <a:solidFill>
                  <a:srgbClr val="1A1A1A"/>
                </a:solidFill>
                <a:latin typeface="New York"/>
              </a:rPr>
              <a:t>Extend into new regions where sleep care is thin. Build each site with provider groups who bring the patients, so it opens with referrals already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07636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IT DEPENDS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45380"/>
            <a:ext cx="5074920" cy="824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Provider groups willing to co-invest rather than refer at arm's length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Site economics that work at reduced in-lab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9270"/>
            <a:ext cx="5074920" cy="1185769"/>
          </a:xfrm>
          <a:prstGeom prst="roundRect">
            <a:avLst>
              <a:gd name="adj" fmla="val 10796"/>
            </a:avLst>
          </a:prstGeom>
          <a:solidFill>
            <a:srgbClr val="EFE8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068726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HOW WE'LL KNOW IT'S WORKING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5306470"/>
            <a:ext cx="4562856" cy="618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69" b="0">
                <a:solidFill>
                  <a:srgbClr val="2D2D2D"/>
                </a:solidFill>
                <a:latin typeface="New York"/>
              </a:rPr>
              <a:t>Signed co-build contracts and days from signature to first patient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3" y="1737360"/>
            <a:ext cx="10058" cy="4297679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737360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THIS YEAR'S GOALS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79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See the first patient in the Pacific Northwest by Aug 31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270090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865500"/>
            <a:ext cx="5074920" cy="28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Break ground on 4 new sites in Q4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JEN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3264979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429571"/>
            <a:ext cx="5074920" cy="5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Sign 6 provider groups to co-build new facilities</a:t>
            </a:r>
            <a:r>
              <a:rPr sz="1000" b="0">
                <a:solidFill>
                  <a:srgbClr val="555555"/>
                </a:solidFill>
                <a:latin typeface="Helvetica Neue"/>
              </a:rPr>
              <a:t>   RUSSELL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4118800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THE KILL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ew York"/>
              </a:rPr>
              <a:t>Not now, and what would bring each one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2D2D2D"/>
                </a:solidFill>
                <a:latin typeface="New York"/>
              </a:rPr>
              <a:t>A refusal without a re-entry condition gets reopened in a hallway six months later. Each line here closes a door and puts a condition on the handle.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NOT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1031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COMES BACK WHEN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59152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42032"/>
            <a:ext cx="4572000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8F8981"/>
                </a:solidFill>
                <a:latin typeface="New York"/>
              </a:rPr>
              <a:t>×  </a:t>
            </a:r>
            <a:r>
              <a:rPr sz="1600" b="0">
                <a:solidFill>
                  <a:srgbClr val="1A1A1A"/>
                </a:solidFill>
                <a:latin typeface="New York"/>
              </a:rPr>
              <a:t>In-lab beds in existing markets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560320"/>
            <a:ext cx="5559552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2D2D2D"/>
                </a:solidFill>
                <a:latin typeface="New York"/>
              </a:rPr>
              <a:t>In-lab utilization above 85% for two straight quarters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29901"/>
            <a:ext cx="1063447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6205"/>
            <a:ext cx="4572000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8F8981"/>
                </a:solidFill>
                <a:latin typeface="New York"/>
              </a:rPr>
              <a:t>×  </a:t>
            </a:r>
            <a:r>
              <a:rPr sz="1600" b="0">
                <a:solidFill>
                  <a:srgbClr val="1A1A1A"/>
                </a:solidFill>
                <a:latin typeface="New York"/>
              </a:rPr>
              <a:t>Price cuts to win referrals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494493"/>
            <a:ext cx="5559552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2D2D2D"/>
                </a:solidFill>
                <a:latin typeface="New York"/>
              </a:rPr>
              <a:t>A referral source names price as the reason they left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64075"/>
            <a:ext cx="1063447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10379"/>
            <a:ext cx="4572000" cy="416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8F8981"/>
                </a:solidFill>
                <a:latin typeface="New York"/>
              </a:rPr>
              <a:t>×  </a:t>
            </a:r>
            <a:r>
              <a:rPr sz="1600" b="0">
                <a:solidFill>
                  <a:srgbClr val="1A1A1A"/>
                </a:solidFill>
                <a:latin typeface="New York"/>
              </a:rPr>
              <a:t>Consumer sleep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428667"/>
            <a:ext cx="5559552" cy="416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2D2D2D"/>
                </a:solidFill>
                <a:latin typeface="New York"/>
              </a:rPr>
              <a:t>Two occupational-health clients ask for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54562"/>
            <a:ext cx="1063447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00866"/>
            <a:ext cx="4572000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8F8981"/>
                </a:solidFill>
                <a:latin typeface="New York"/>
              </a:rPr>
              <a:t>×  </a:t>
            </a:r>
            <a:r>
              <a:rPr sz="1600" b="0">
                <a:solidFill>
                  <a:srgbClr val="1A1A1A"/>
                </a:solidFill>
                <a:latin typeface="New York"/>
              </a:rPr>
              <a:t>Acquiring other sleep 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119154"/>
            <a:ext cx="5559552" cy="6598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2D2D2D"/>
                </a:solidFill>
                <a:latin typeface="New York"/>
              </a:rPr>
              <a:t>A results-based payer contract is signed and needs capacity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888736"/>
            <a:ext cx="10634472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447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WHAT WE'RE STANDING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3447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New York"/>
              </a:rPr>
              <a:t>Key assumptions and key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98448"/>
            <a:ext cx="10634472" cy="10058"/>
          </a:xfrm>
          <a:prstGeom prst="rect">
            <a:avLst/>
          </a:prstGeom>
          <a:solidFill>
            <a:srgbClr val="8F89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1790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KEY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074920" cy="121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Payers will pay for outcomes, not only for tests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BROKE WHEN   </a:t>
            </a:r>
            <a:r>
              <a:rPr sz="1300" b="0">
                <a:solidFill>
                  <a:srgbClr val="2D2D2D"/>
                </a:solidFill>
                <a:latin typeface="New York"/>
              </a:rPr>
              <a:t>Two payer conversations end with “we only pay per study”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168281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14585"/>
            <a:ext cx="5074920" cy="121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Home testing can be profitable at reduced rates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BROKE WHEN   </a:t>
            </a:r>
            <a:r>
              <a:rPr sz="1300" b="0">
                <a:solidFill>
                  <a:srgbClr val="2D2D2D"/>
                </a:solidFill>
                <a:latin typeface="New York"/>
              </a:rPr>
              <a:t>Home-test margin is negative after the Q4 volume push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54067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800371"/>
            <a:ext cx="5074920" cy="9603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Occupational-health buyers want treated employees, not diagnoses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BROKE WHEN   </a:t>
            </a:r>
            <a:r>
              <a:rPr sz="1300" b="0">
                <a:solidFill>
                  <a:srgbClr val="2D2D2D"/>
                </a:solidFill>
                <a:latin typeface="New York"/>
              </a:rPr>
              <a:t>Pilots renew as diagnostic-only contracts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888736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9903" y="1517904"/>
            <a:ext cx="10058" cy="4517136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51790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spc="132">
                <a:solidFill>
                  <a:srgbClr val="555555"/>
                </a:solidFill>
                <a:latin typeface="Helvetica Neue"/>
              </a:rPr>
              <a:t>KEY QUESTIONS, EACH WITH AN OWNER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828800"/>
            <a:ext cx="5074920" cy="1127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What does a results-based contract look like to a regional payer?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ERIC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36792" y="3084575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3230880"/>
            <a:ext cx="5074920" cy="1127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Which Pacific Northwest sites have the referral density to support a lab?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RUSSELL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36792" y="4486656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4632960"/>
            <a:ext cx="5074920" cy="1127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New York"/>
              </a:rPr>
              <a:t>What DME margin holds once commercial payers follow Medicare?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55555"/>
                </a:solidFill>
                <a:latin typeface="Helvetica Neue"/>
              </a:rPr>
              <a:t>MICHELLE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6792" y="5888736"/>
            <a:ext cx="5074920" cy="10058"/>
          </a:xfrm>
          <a:prstGeom prst="rect">
            <a:avLst/>
          </a:prstGeom>
          <a:solidFill>
            <a:srgbClr val="DFD6C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55080"/>
            <a:ext cx="9966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spc="132">
                <a:solidFill>
                  <a:srgbClr val="555555"/>
                </a:solidFill>
                <a:latin typeface="Helvetica Neue"/>
              </a:rPr>
              <a:t>REM MEDICAL STRATEGY 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